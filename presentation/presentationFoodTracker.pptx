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Заголовок презентации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Белая изогнутая конструкция футуристичного вида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Автор и дата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Заголовок презентации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Многослойный белый криволинейный узор крупным планом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3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Изогнутый край белого камня крупным планом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Подзаголовок слайда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0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09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Заголовок повестки дня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ногослойный белый криволинейный узор крупным планом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Многослойный узор из серого камня крупным планом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Белый ребристый узор крупным планом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Угловатый белый коридор футуристичного вида с тенями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Информационная система учета сроков годности продуктов «FoodTracker»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Информационная система учета сроков годности продуктов «FoodTracker»</a:t>
            </a:r>
          </a:p>
        </p:txBody>
      </p:sp>
      <p:sp>
        <p:nvSpPr>
          <p:cNvPr id="172" name="Проектная работа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Проектная работа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- Разработка веб-приложения для домашнего учета продуктов питания с контролем сроков годности, системой уведомлений и аналитикой потребления"/>
          <p:cNvSpPr txBox="1"/>
          <p:nvPr>
            <p:ph type="body" idx="21"/>
          </p:nvPr>
        </p:nvSpPr>
        <p:spPr>
          <a:xfrm>
            <a:off x="1206500" y="2324100"/>
            <a:ext cx="21971000" cy="64308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- Разработка веб-приложения для домашнего учета продуктов питания с контролем сроков годности, системой уведомлений и аналитикой потребления</a:t>
            </a:r>
          </a:p>
        </p:txBody>
      </p:sp>
      <p:sp>
        <p:nvSpPr>
          <p:cNvPr id="175" name="Цель проект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Цель проекта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Предметная область и анализ аналогов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Предметная область и анализ аналогов</a:t>
            </a:r>
          </a:p>
        </p:txBody>
      </p:sp>
      <p:pic>
        <p:nvPicPr>
          <p:cNvPr id="178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32049" y="2800350"/>
            <a:ext cx="19519901" cy="5118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Архитектура системы и база данных  1/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Архитектура системы и база данных  1/3</a:t>
            </a:r>
          </a:p>
        </p:txBody>
      </p:sp>
      <p:pic>
        <p:nvPicPr>
          <p:cNvPr id="181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0491" y="3512919"/>
            <a:ext cx="10045701" cy="739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03218" y="3277347"/>
            <a:ext cx="9359901" cy="4292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вставленный-фильм.png" descr="вставленный-фильм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795872" y="7721215"/>
            <a:ext cx="9503088" cy="46426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Архитектура системы и база данных  2/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Архитектура системы и база данных  2/3</a:t>
            </a:r>
          </a:p>
        </p:txBody>
      </p:sp>
      <p:pic>
        <p:nvPicPr>
          <p:cNvPr id="186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895916" y="8975239"/>
            <a:ext cx="8964921" cy="3059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179" y="2542988"/>
            <a:ext cx="13068301" cy="1041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вставленный-фильм.png" descr="вставленный-фильм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924454" y="3609957"/>
            <a:ext cx="9241571" cy="51035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Архитектура системы и база данных  3/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Архитектура системы и база данных  3/3</a:t>
            </a:r>
          </a:p>
        </p:txBody>
      </p:sp>
      <p:pic>
        <p:nvPicPr>
          <p:cNvPr id="191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5712" y="2974040"/>
            <a:ext cx="10766877" cy="8523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086888" y="2584579"/>
            <a:ext cx="8169056" cy="38719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вставленный-фильм.png" descr="вставленный-фильм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131674" y="6717030"/>
            <a:ext cx="8079484" cy="57557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Связи между сущностям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Связи между сущностями</a:t>
            </a:r>
          </a:p>
        </p:txBody>
      </p:sp>
      <p:pic>
        <p:nvPicPr>
          <p:cNvPr id="196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14900" y="3530600"/>
            <a:ext cx="14554200" cy="665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Диаграммы: Ментальная карт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Диаграммы: Ментальная карта</a:t>
            </a:r>
          </a:p>
        </p:txBody>
      </p:sp>
      <p:pic>
        <p:nvPicPr>
          <p:cNvPr id="199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75381" y="3401313"/>
            <a:ext cx="19508822" cy="93226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65425" y="254265"/>
            <a:ext cx="10453150" cy="13207470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Диаграммы:…"/>
          <p:cNvSpPr txBox="1"/>
          <p:nvPr>
            <p:ph type="title"/>
          </p:nvPr>
        </p:nvSpPr>
        <p:spPr>
          <a:xfrm>
            <a:off x="16836643" y="635355"/>
            <a:ext cx="14268896" cy="1689101"/>
          </a:xfrm>
          <a:prstGeom prst="rect">
            <a:avLst/>
          </a:prstGeom>
        </p:spPr>
        <p:txBody>
          <a:bodyPr/>
          <a:lstStyle/>
          <a:p>
            <a:pPr defTabSz="1194816">
              <a:defRPr spc="-48" sz="4900"/>
            </a:pPr>
            <a:r>
              <a:t>Диаграммы: </a:t>
            </a:r>
          </a:p>
          <a:p>
            <a:pPr defTabSz="1194816">
              <a:defRPr spc="-48" sz="4900"/>
            </a:pPr>
            <a:r>
              <a:t>Модель в нотации IDEF0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Декомпозиция первого уровня"/>
          <p:cNvSpPr txBox="1"/>
          <p:nvPr>
            <p:ph type="title"/>
          </p:nvPr>
        </p:nvSpPr>
        <p:spPr>
          <a:xfrm>
            <a:off x="7421133" y="927608"/>
            <a:ext cx="9541734" cy="1689101"/>
          </a:xfrm>
          <a:prstGeom prst="rect">
            <a:avLst/>
          </a:prstGeom>
        </p:spPr>
        <p:txBody>
          <a:bodyPr/>
          <a:lstStyle>
            <a:lvl1pPr defTabSz="1414272">
              <a:defRPr spc="-58" sz="5800"/>
            </a:lvl1pPr>
          </a:lstStyle>
          <a:p>
            <a:pPr/>
            <a:r>
              <a:t>Декомпозиция первого уровня</a:t>
            </a:r>
          </a:p>
        </p:txBody>
      </p:sp>
      <p:pic>
        <p:nvPicPr>
          <p:cNvPr id="205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74617" y="3841750"/>
            <a:ext cx="24533234" cy="64920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Диаграммы:…"/>
          <p:cNvSpPr txBox="1"/>
          <p:nvPr>
            <p:ph type="title"/>
          </p:nvPr>
        </p:nvSpPr>
        <p:spPr>
          <a:xfrm>
            <a:off x="17640363" y="635355"/>
            <a:ext cx="13465176" cy="1689101"/>
          </a:xfrm>
          <a:prstGeom prst="rect">
            <a:avLst/>
          </a:prstGeom>
        </p:spPr>
        <p:txBody>
          <a:bodyPr/>
          <a:lstStyle/>
          <a:p>
            <a:pPr defTabSz="1194816">
              <a:defRPr spc="-48" sz="4900"/>
            </a:pPr>
            <a:r>
              <a:t>Диаграммы: </a:t>
            </a:r>
          </a:p>
          <a:p>
            <a:pPr defTabSz="1194816">
              <a:defRPr spc="-48" sz="4900"/>
            </a:pPr>
            <a:r>
              <a:t>Нотация DFD</a:t>
            </a:r>
          </a:p>
        </p:txBody>
      </p:sp>
      <p:pic>
        <p:nvPicPr>
          <p:cNvPr id="208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7921" y="3840734"/>
            <a:ext cx="21868158" cy="563895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Контекстная диаграмма (уровень 0)"/>
          <p:cNvSpPr txBox="1"/>
          <p:nvPr/>
        </p:nvSpPr>
        <p:spPr>
          <a:xfrm>
            <a:off x="10198997" y="10072479"/>
            <a:ext cx="497122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914400">
              <a:spcBef>
                <a:spcPts val="0"/>
              </a:spcBef>
              <a:defRPr sz="1800">
                <a:solidFill>
                  <a:srgbClr val="000000"/>
                </a:solidFill>
                <a:latin typeface="Adwaita Sans"/>
                <a:ea typeface="Adwaita Sans"/>
                <a:cs typeface="Adwaita Sans"/>
                <a:sym typeface="Adwaita Sans"/>
              </a:defRPr>
            </a:lvl1pPr>
          </a:lstStyle>
          <a:p>
            <a:pPr/>
            <a:r>
              <a:t>Контекстная диаграмма (уровень 0)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Диаграмма уровня 1 — Декомпозиция системы"/>
          <p:cNvSpPr txBox="1"/>
          <p:nvPr/>
        </p:nvSpPr>
        <p:spPr>
          <a:xfrm>
            <a:off x="8405870" y="12599098"/>
            <a:ext cx="75722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914400">
              <a:spcBef>
                <a:spcPts val="0"/>
              </a:spcBef>
              <a:defRPr sz="1800">
                <a:solidFill>
                  <a:srgbClr val="000000"/>
                </a:solidFill>
                <a:latin typeface="Adwaita Sans"/>
                <a:ea typeface="Adwaita Sans"/>
                <a:cs typeface="Adwaita Sans"/>
                <a:sym typeface="Adwaita Sans"/>
              </a:defRPr>
            </a:lvl1pPr>
          </a:lstStyle>
          <a:p>
            <a:pPr/>
            <a:r>
              <a:t>Диаграмма уровня 1 — Декомпозиция системы</a:t>
            </a:r>
          </a:p>
        </p:txBody>
      </p:sp>
      <p:pic>
        <p:nvPicPr>
          <p:cNvPr id="212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394" y="441376"/>
            <a:ext cx="22377382" cy="117816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7048" y="3314191"/>
            <a:ext cx="23849904" cy="5602237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Процесс «Добавление продукта» (уровень 2)"/>
          <p:cNvSpPr txBox="1"/>
          <p:nvPr/>
        </p:nvSpPr>
        <p:spPr>
          <a:xfrm>
            <a:off x="9817227" y="9271508"/>
            <a:ext cx="5548998" cy="113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600"/>
              </a:spcBef>
              <a:defRPr b="1" sz="216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000000"/>
                </a:solidFill>
              </a:rPr>
              <a:t>Процесс «Добавление продукта» (уровень 2)</a:t>
            </a:r>
            <a:endParaRPr>
              <a:solidFill>
                <a:srgbClr val="000000"/>
              </a:solidFill>
            </a:endParaRPr>
          </a:p>
          <a:p>
            <a:pPr defTabSz="457200">
              <a:spcBef>
                <a:spcPts val="0"/>
              </a:spcBef>
              <a:defRPr sz="1020">
                <a:solidFill>
                  <a:srgbClr val="24292E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algn="ctr" defTabSz="457200">
              <a:spcBef>
                <a:spcPts val="0"/>
              </a:spcBef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457200">
              <a:spcBef>
                <a:spcPts val="0"/>
              </a:spcBef>
              <a:defRPr sz="765">
                <a:solidFill>
                  <a:srgbClr val="24292E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Диаграммы: нотация BPMN, UML и ER. Проект на GitHub"/>
          <p:cNvSpPr txBox="1"/>
          <p:nvPr>
            <p:ph type="title"/>
          </p:nvPr>
        </p:nvSpPr>
        <p:spPr>
          <a:xfrm>
            <a:off x="1709714" y="260042"/>
            <a:ext cx="20964572" cy="6419889"/>
          </a:xfrm>
          <a:prstGeom prst="rect">
            <a:avLst/>
          </a:prstGeom>
        </p:spPr>
        <p:txBody>
          <a:bodyPr lIns="45719" tIns="45719" rIns="45719" bIns="45719" anchor="ctr"/>
          <a:lstStyle/>
          <a:p>
            <a:pPr algn="ctr" defTabSz="685800">
              <a:defRPr spc="0" sz="6500">
                <a:solidFill>
                  <a:srgbClr val="000000"/>
                </a:solidFill>
                <a:latin typeface="Adwaita Sans"/>
                <a:ea typeface="Adwaita Sans"/>
                <a:cs typeface="Adwaita Sans"/>
                <a:sym typeface="Adwaita Sans"/>
              </a:defRPr>
            </a:pPr>
            <a:r>
              <a:t>Диаграммы: нотация </a:t>
            </a:r>
            <a:r>
              <a:t>BPMN</a:t>
            </a:r>
            <a:r>
              <a:t>, </a:t>
            </a:r>
            <a:r>
              <a:t>UML </a:t>
            </a:r>
            <a:r>
              <a:t>и </a:t>
            </a:r>
            <a:r>
              <a:t>ER</a:t>
            </a:r>
            <a:r>
              <a:t>.</a:t>
            </a:r>
            <a:br/>
            <a:r>
              <a:t>Проект на </a:t>
            </a:r>
            <a:r>
              <a:t>GitHub</a:t>
            </a:r>
          </a:p>
        </p:txBody>
      </p:sp>
      <p:sp>
        <p:nvSpPr>
          <p:cNvPr id="218" name="Предлагаем ознакомиться с диаграммами и проектом в целом на GitHub:"/>
          <p:cNvSpPr txBox="1"/>
          <p:nvPr/>
        </p:nvSpPr>
        <p:spPr>
          <a:xfrm>
            <a:off x="5273252" y="4866778"/>
            <a:ext cx="13509749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 defTabSz="914400">
              <a:spcBef>
                <a:spcPts val="0"/>
              </a:spcBef>
              <a:defRPr sz="2900">
                <a:solidFill>
                  <a:srgbClr val="000000"/>
                </a:solidFill>
                <a:latin typeface="Adwaita Sans"/>
                <a:ea typeface="Adwaita Sans"/>
                <a:cs typeface="Adwaita Sans"/>
                <a:sym typeface="Adwaita Sans"/>
              </a:defRPr>
            </a:pPr>
            <a:r>
              <a:t>Предлагаем ознакомиться с диаграммами и проектом в целом</a:t>
            </a:r>
            <a:r>
              <a:t> </a:t>
            </a:r>
            <a:r>
              <a:t>на </a:t>
            </a:r>
            <a:r>
              <a:t>GitHub</a:t>
            </a:r>
            <a:r>
              <a:t>:</a:t>
            </a:r>
          </a:p>
        </p:txBody>
      </p:sp>
      <p:sp>
        <p:nvSpPr>
          <p:cNvPr id="219" name="Благодарим за внимание!"/>
          <p:cNvSpPr txBox="1"/>
          <p:nvPr/>
        </p:nvSpPr>
        <p:spPr>
          <a:xfrm>
            <a:off x="7609740" y="10795278"/>
            <a:ext cx="9164520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914400">
              <a:spcBef>
                <a:spcPts val="0"/>
              </a:spcBef>
              <a:defRPr sz="2900">
                <a:solidFill>
                  <a:srgbClr val="000000"/>
                </a:solidFill>
                <a:latin typeface="Adwaita Sans"/>
                <a:ea typeface="Adwaita Sans"/>
                <a:cs typeface="Adwaita Sans"/>
                <a:sym typeface="Adwaita Sans"/>
              </a:defRPr>
            </a:lvl1pPr>
          </a:lstStyle>
          <a:p>
            <a:pPr/>
            <a:r>
              <a:t>Благодарим за внимание!</a:t>
            </a:r>
          </a:p>
        </p:txBody>
      </p:sp>
      <p:sp>
        <p:nvSpPr>
          <p:cNvPr id="220" name="https://github.com/Egor-Alpy/FoodTracker"/>
          <p:cNvSpPr txBox="1"/>
          <p:nvPr/>
        </p:nvSpPr>
        <p:spPr>
          <a:xfrm>
            <a:off x="8492108" y="9393257"/>
            <a:ext cx="7399783" cy="60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215F"/>
                </a:solidFill>
              </a:defRPr>
            </a:lvl1pPr>
          </a:lstStyle>
          <a:p>
            <a:pPr/>
            <a:r>
              <a:t>https://github.com/Egor-Alpy/FoodTracker</a:t>
            </a:r>
          </a:p>
        </p:txBody>
      </p:sp>
      <p:pic>
        <p:nvPicPr>
          <p:cNvPr id="221" name="2ab3e35b8c57f5d2ec49dca18a2f1000.png" descr="2ab3e35b8c57f5d2ec49dca18a2f100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15065" y="5623124"/>
            <a:ext cx="3953870" cy="39538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